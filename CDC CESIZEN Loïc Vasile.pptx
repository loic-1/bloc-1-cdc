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3" r:id="rId8"/>
    <p:sldId id="264" r:id="rId9"/>
    <p:sldId id="270" r:id="rId10"/>
    <p:sldId id="265" r:id="rId11"/>
    <p:sldId id="267" r:id="rId12"/>
    <p:sldId id="261" r:id="rId13"/>
    <p:sldId id="262" r:id="rId14"/>
    <p:sldId id="266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727" autoAdjust="0"/>
  </p:normalViewPr>
  <p:slideViewPr>
    <p:cSldViewPr snapToGrid="0">
      <p:cViewPr varScale="1">
        <p:scale>
          <a:sx n="64" d="100"/>
          <a:sy n="64" d="100"/>
        </p:scale>
        <p:origin x="1146" y="45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7FBB2-CBCB-47AD-BE75-C024DB19AD05}" type="datetimeFigureOut">
              <a:rPr lang="fr-FR" smtClean="0"/>
              <a:t>22/12/2025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70A6E-2C92-4B93-8F13-7790C092F5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4758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 complet du projet :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CESIZen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Tagline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« L'application de votre santé mentale »</a:t>
            </a:r>
          </a:p>
          <a:p>
            <a:pPr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Nom, Prénom | Promotion | Centre CESI Lingolsheim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70A6E-2C92-4B93-8F13-7790C092F52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776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État des lieux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 personne sur 5 atteinte de troubles psychiatriques chaque année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70 % des Français considèrent la santé mentale comme tabou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Impact majeur du stress sur le quotidien et la productivité</a:t>
            </a:r>
          </a:p>
          <a:p>
            <a:pPr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Demande institutionnelle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Ministère de la Santé et de la Prévention (commanditaire)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Volonté de proposer une solution accessible au grand public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Prévention et sensibilisation comme priorités</a:t>
            </a:r>
          </a:p>
          <a:p>
            <a:pPr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Réponse proposée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Plateforme web </a:t>
            </a:r>
            <a:r>
              <a:rPr lang="fr-FR" sz="1200" b="0" i="0" u="none" strike="noStrike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CESIZen</a:t>
            </a: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: outils de gestion du stress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70A6E-2C92-4B93-8F13-7790C092F52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6974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Objectif principal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Accompagner les citoyens dans la compréhension et la gestion de leur santé mentale</a:t>
            </a:r>
          </a:p>
          <a:p>
            <a:pPr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Objectifs fonctionnels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Proposer des outils de diagnostic et d'</a:t>
            </a:r>
            <a:r>
              <a:rPr lang="fr-FR" sz="1200" b="0" i="0" u="none" strike="noStrike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auto-diagnostic</a:t>
            </a: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dynamiques (échelle Holmes &amp; Rahe)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Fournir des exercices de respiration / cohérence cardiaque configurables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Mettre à disposition des contenus informatifs (articles, ressources)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Offrir un tracker d'émotions (suivi personnel)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Enrichissement possible : activités de détente, questionnaires personnalisés</a:t>
            </a:r>
          </a:p>
          <a:p>
            <a:pPr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Enjeux techniques associés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Performance &amp; optimisation (</a:t>
            </a:r>
            <a:r>
              <a:rPr lang="fr-FR" sz="1200" b="0" i="0" u="none" strike="noStrike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Lighthouse</a:t>
            </a: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fr-FR" sz="1200" b="0" i="0" u="none" strike="noStrike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lazy-loading</a:t>
            </a: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Ergonomie &amp; UX intuitive</a:t>
            </a:r>
          </a:p>
          <a:p>
            <a:pPr marL="457200" lvl="1" indent="0" rtl="0" fontAlgn="base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Sécurité &amp; conformité (RGPD, RGAA)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70A6E-2C92-4B93-8F13-7790C092F52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458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Côté commanditaire/projet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Ministère de la Santé et de la Prévention (client, demandeur)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Prestataire (toi : concepteur-développeur)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Équipe CESI (pilotage, évaluation)</a:t>
            </a:r>
          </a:p>
          <a:p>
            <a:pPr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Côté utilisateurs/acteurs applicatifs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Visiteur anonyme : accès en lecture à l'info, diagnostics, exercices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Utilisateur connecté : accès complet + création de compte, tracker personnel, favoris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Administrateur : gestion des contenus, modération, configuration, back-office</a:t>
            </a:r>
          </a:p>
          <a:p>
            <a:pPr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Rôles spécifiques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Chaque acteur a des permissions et workflows distincts</a:t>
            </a:r>
          </a:p>
          <a:p>
            <a:pPr marL="457200" lvl="1" indent="0" rtl="0" fontAlgn="base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Interaction avec modules fonctionnels différents par rôle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70A6E-2C92-4B93-8F13-7790C092F52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8402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E590C-2B1D-8107-DA58-B4D1D11A2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F883A10-2FA7-00F4-F3B3-E845628D1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66D7267-7820-3BA3-F5D1-6A81C4CC2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Expliquer fonctionnalités par acteur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BF5EF0-25E5-9062-7A2E-C002629CD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70A6E-2C92-4B93-8F13-7790C092F52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5149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Modules fonctionnels proposés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Comptes utilisateurs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Informations (Articles)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Diagnostics (questionnaire de stress)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Exercices de respiration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Activités de détente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Tracker d'émotions</a:t>
            </a:r>
          </a:p>
          <a:p>
            <a:pPr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Critères de priorisation appliqués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Complexité de mise en œuvre (0–3)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Valeur ajoutée pour le Ministère (0–3)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Valeur ajoutée pour l'utilisateur (0–3)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Nécessité / obligation (0–2)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Interdépendances entre fonctionnalités (0–2)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Score total : 0–15 points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Top priorités identifiées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Diagnostic de stress (score 10) → cœur du projet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Tracker d'émotions / journal de bord (score 10) → suivi personnel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Chiffrement des données (score 9) → sécurité critique (stockage email)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Création compte utilisateur (score 9) → fondamental</a:t>
            </a:r>
          </a:p>
          <a:p>
            <a:pPr marL="457200" lvl="1" indent="0" rtl="0" fontAlgn="base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Exercice de respiration (score 9) → fonctionnalité clé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70A6E-2C92-4B93-8F13-7790C092F52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506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Modules obligatoires (toujours couverts)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Comptes utilisateurs (CRUD : création, lecture, modification, suppression)</a:t>
            </a:r>
          </a:p>
          <a:p>
            <a:pPr marL="914400" lvl="2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Création de compte : pseudo, email, mot de passe (min. 12 caractères, majuscules, minuscules, spéciaux)</a:t>
            </a:r>
          </a:p>
          <a:p>
            <a:pPr marL="914400" lvl="2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Gestion du compte : modification pseudo, email, mot de passe avec double vérification</a:t>
            </a:r>
          </a:p>
          <a:p>
            <a:pPr marL="914400" lvl="2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Admin : gestion des comptes, suppression avec anonymisation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Informations (gestion des articles)</a:t>
            </a:r>
          </a:p>
          <a:p>
            <a:pPr marL="914400" lvl="2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Affichage des pages/menus de contenu</a:t>
            </a:r>
          </a:p>
          <a:p>
            <a:pPr marL="914400" lvl="2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Admin : ajout, modification, suppression d'articles</a:t>
            </a:r>
          </a:p>
          <a:p>
            <a:pPr marL="0" indent="0"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Module optionnel choisi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Exercices de respiration</a:t>
            </a: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(cohérence cardiaque)</a:t>
            </a:r>
          </a:p>
          <a:p>
            <a:pPr marL="914400" lvl="2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Configuration : durée inspiration, apnée, expiration</a:t>
            </a:r>
          </a:p>
          <a:p>
            <a:pPr marL="914400" lvl="2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Presets</a:t>
            </a: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proposés : 7–4–8, 5–5–0, 4–6–0</a:t>
            </a:r>
          </a:p>
          <a:p>
            <a:pPr marL="914400" lvl="2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Lancement de l'exercice avec interface interactive</a:t>
            </a:r>
          </a:p>
          <a:p>
            <a:pPr rtl="0" fontAlgn="base">
              <a:buFont typeface="Arial" panose="020B0604020202020204" pitchFamily="34" charset="0"/>
              <a:buNone/>
            </a:pPr>
            <a:r>
              <a:rPr lang="fr-FR" sz="1200" b="0" i="1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Alternative possible si autre module choisi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1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Diagnostics (questionnaire de stress) / Tracker d'émotions / Activités de détente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None/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Fonctionnalités hors périmètre BLOC 1 :</a:t>
            </a:r>
            <a:endParaRPr lang="fr-FR" sz="1200" b="0" i="0" u="none" strike="noStrike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Autres modules optionnels (reportés BLOC 2/3)</a:t>
            </a:r>
          </a:p>
          <a:p>
            <a:pPr marL="457200" lvl="1" indent="0" rtl="0" fontAlgn="base"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Déploiement effectif en production (BLOC 3)</a:t>
            </a:r>
          </a:p>
          <a:p>
            <a:pPr marL="457200" lvl="1" indent="0" rtl="0" fontAlgn="base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fr-FR" sz="1200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Prototype fonctionnel complet (BLOC 2)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70A6E-2C92-4B93-8F13-7790C092F52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81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 architectural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 :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REST (Symfony + API Platform avec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Nelmio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communication backend / frontend)</a:t>
            </a:r>
          </a:p>
          <a:p>
            <a:pPr lvl="2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 PHP Symfony (raison : maîtrise, communauté forte, sécurité)</a:t>
            </a:r>
          </a:p>
          <a:p>
            <a:pPr lvl="2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Platform pour automatisation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/vues</a:t>
            </a:r>
          </a:p>
          <a:p>
            <a:pPr lvl="2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Logique métier dans les ressources modèles</a:t>
            </a:r>
          </a:p>
          <a:p>
            <a:pPr lvl="1"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 :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Vue.js (SPA – Single Page Application, vue router)</a:t>
            </a:r>
          </a:p>
          <a:p>
            <a:pPr lvl="2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 JavaScript (raison : facilité dev, composants réutilisables)</a:t>
            </a:r>
          </a:p>
          <a:p>
            <a:pPr lvl="2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Approche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composantisée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 de données :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MySQL (SGBD relationnel)</a:t>
            </a:r>
          </a:p>
          <a:p>
            <a:pPr lvl="2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Raison : performance, administration, adéquation au projet</a:t>
            </a:r>
          </a:p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Justification vs alternatives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Backend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Symfony vs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Laravel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Symfony choisi (maîtrise)</a:t>
            </a:r>
          </a:p>
          <a:p>
            <a:pPr lvl="2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Symfony vs Spring Boot : Symfony + performant + facile à mettre en œuvre</a:t>
            </a:r>
          </a:p>
          <a:p>
            <a:pPr lvl="1"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Frontend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Vue.js vs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Vue.js choisi (plus agréable à développer)</a:t>
            </a:r>
          </a:p>
          <a:p>
            <a:pPr lvl="2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Vue.js vs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Angular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Vue.js + simple</a:t>
            </a:r>
          </a:p>
          <a:p>
            <a:pPr lvl="1"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SGBD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2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MySQL vs PostgreSQL : MySQL choisi (administration plus facile)</a:t>
            </a:r>
          </a:p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Architecture globale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Séparation claire Model–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–Controller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Approche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stateless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(API REST)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Communication JSON client–serveur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70A6E-2C92-4B93-8F13-7790C092F52F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2764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C81F1-77CF-61C9-740B-04AC31436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B2B521F-23BB-D413-ADAE-E0AC79F62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1015D9A-EA01-EE06-E15C-A0BD27809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Expliquer inscription utilisateur</a:t>
            </a:r>
          </a:p>
          <a:p>
            <a:pPr rtl="0" fontAlgn="base"/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Chiffrement e-mail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39F16E-CA7C-D91C-C5D3-2FB2C005C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70A6E-2C92-4B93-8F13-7790C092F52F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0048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Expliquer ce qu’est un MCD (entités, identifiants, cardinalités)</a:t>
            </a:r>
          </a:p>
          <a:p>
            <a:r>
              <a:rPr lang="fr-FR" dirty="0"/>
              <a:t>Parler de la méthode Merise</a:t>
            </a:r>
          </a:p>
          <a:p>
            <a:r>
              <a:rPr lang="fr-FR" dirty="0"/>
              <a:t>Relation USER – ARTICLE</a:t>
            </a:r>
          </a:p>
          <a:p>
            <a:r>
              <a:rPr lang="fr-FR" dirty="0"/>
              <a:t>Expliquer le choix de l’utilisation des signatures et dates de création et modification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70A6E-2C92-4B93-8F13-7790C092F52F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0195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Expliquer ce qu’est un MLD (Tables, relations, clés primaires et étrangères)</a:t>
            </a:r>
          </a:p>
          <a:p>
            <a:r>
              <a:rPr lang="fr-FR" dirty="0"/>
              <a:t>Expliquer la relation USER – ARTICLE</a:t>
            </a:r>
          </a:p>
          <a:p>
            <a:r>
              <a:rPr lang="fr-FR" dirty="0"/>
              <a:t>Expliquer aussi le type de données</a:t>
            </a:r>
          </a:p>
          <a:p>
            <a:r>
              <a:rPr lang="fr-FR" dirty="0"/>
              <a:t>Chiffrement des adresse mail en BDD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70A6E-2C92-4B93-8F13-7790C092F52F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1011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Principes ergonomiques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 intuitive et facile à naviguer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En-tête avec liens vers ressources et modules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Menu burger adaptatif (responsif)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Parcours utilisateur simplifié</a:t>
            </a:r>
          </a:p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Accessibilité – Conformité RGAA (niveau AA)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Attributs alt sur images +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sur liens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Navigation au clavier (tab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focus visibles)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Contraste suffisant (ratio 4.5:1 pour texte normal)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Possibilité de changement de police (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Comic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Sans MS pour dyslexiques)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 lecteurs d'écran</a:t>
            </a:r>
          </a:p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Responsive Design &amp; Mobile First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Conception d'abord pour mobile (petit écran)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Adaptation progressive aux écrans larges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Meta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viewport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adaptation CSS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Éléments fluides, pas de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fixed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widths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Adaptation des interactions tactiles</a:t>
            </a:r>
          </a:p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Identité graphique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Logo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CESIZen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proposé (modifiable)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Palette couleurs cohérente (univers santé/bien-être)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Typographie lisible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Univers visuel accessible et rassurant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70A6E-2C92-4B93-8F13-7790C092F52F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15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Vulnérabilités identifiées &amp; ripostes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Injections SQL →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pas de risque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Sécurisation des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des permissions par rôle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Injections XSS → Échappement des données affichées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Failles CSRF →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CSRF uniques par session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Exposition API → Authentification obligatoire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Brute force → Limitation des tentatives avant blocage</a:t>
            </a:r>
          </a:p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Cryptage &amp; hachage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Mots de passe : algorithme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bcrypt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(non-réversible)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Connexion HTTPS / SSL obligatoire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Données sensibles chiffrées en transit et au repos (future implémentation)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Exemple: E-mails chiffrés pour ne pas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compremettre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les utilisateurs en cas de fuite de la BDD</a:t>
            </a:r>
          </a:p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Conformité RGPD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Droit à l'oubli :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suppression de compte → anonymisation des données (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id_user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placeholder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1"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Transparence :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informations claires sur traitement des données</a:t>
            </a:r>
          </a:p>
          <a:p>
            <a:pPr lvl="1"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Minimisation :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collecte uniquement des données nécessaires</a:t>
            </a:r>
          </a:p>
          <a:p>
            <a:pPr lvl="1"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Sécurité :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mesures techniques et organisationnelles</a:t>
            </a:r>
          </a:p>
          <a:p>
            <a:pPr lvl="1"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Notification d'incident :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alerter CNIL et utilisateurs sous 48h en cas de fuite</a:t>
            </a:r>
          </a:p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Analyse des risques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Matrice de risques : identification, évaluation, priorisation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 préventives et correctives par risque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 de gestion de crise en cas d'incident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70A6E-2C92-4B93-8F13-7790C092F52F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9605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Environnements &amp; infrastructure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Développement (local + Git branches dev)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 (VM dédiée, tests automatisés)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Production (Microsoft Azure – 100 € crédit étudiant)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Versioning : Git +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GitLab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(branches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remote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dev/prod)</a:t>
            </a:r>
          </a:p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&amp; Automatisation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Pipelines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GitLab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configurées (.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gitlab-ci.yml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 automatisés à chaque push sur branche dev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Déploiement automatisé en production (après validation)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 de test lancées par pipeline</a:t>
            </a:r>
          </a:p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Stratégie de test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 unitaires :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validation des fonctions/méthodes isolées</a:t>
            </a:r>
          </a:p>
          <a:p>
            <a:pPr lvl="1"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 fonctionnels :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validation des workflows utilisateur</a:t>
            </a:r>
          </a:p>
          <a:p>
            <a:pPr lvl="1"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 de non-régression :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vérifier que modifications n'ont pas cassé l'existant</a:t>
            </a:r>
          </a:p>
          <a:p>
            <a:pPr lvl="1"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Cahier de tests :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scénarios écrits en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Gherkin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résultats attendus, responsables</a:t>
            </a:r>
          </a:p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Livrables du BLOC 1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Cahier 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 charges complet (contexte, besoins, contraintes, objectifs)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Spécifications fonctionnelles &amp; techniques (détail par module,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mockups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ergonomie)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Modélisation UML (cas d'usage, états, séquences, classes)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MCD / MLD (structure de données validée)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Gestion données personnelles &amp; sécurité (RGPD, cryptage)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✅ Soutenance orale (20 min + 10 min Q&amp;R)</a:t>
            </a:r>
          </a:p>
          <a:p>
            <a:pPr rtl="0" fontAlgn="base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Blocs suivants :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 2 (24/03/2026) : Prototype fonctionnel + tests complets</a:t>
            </a:r>
          </a:p>
          <a:p>
            <a:pPr lvl="1" rtl="0" fontAlgn="base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BLOC 3 (24/04/2026) : Déploiement, maintenance, sécurisation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70A6E-2C92-4B93-8F13-7790C092F52F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2421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4109A1-D4AB-7AC3-934A-BC2BC6000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AA035F2-B6AA-184A-6091-6FD34EF94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BF5136-DA7F-16BC-8C24-899A0B75B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E9B-6721-441A-8298-E6C3EA686A51}" type="datetimeFigureOut">
              <a:rPr lang="fr-FR" smtClean="0"/>
              <a:t>22/12/2025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48F578-AD24-29B1-FBD5-D74838542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C3FADD-206B-F7E8-1F59-8D68D832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75A-CBAB-4B5F-ACC2-E1149B60C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5374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C601D4-B694-22AC-CCBF-E8178FD7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D4AC9E-EEB1-2749-D6EE-5EB04FDFF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48DA21-4659-6EC4-A641-2FC3A4119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E9B-6721-441A-8298-E6C3EA686A51}" type="datetimeFigureOut">
              <a:rPr lang="fr-FR" smtClean="0"/>
              <a:t>22/12/2025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2EDD46-0D43-72E9-65B5-15FD0BA77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C1183F-FA9C-E241-4C6F-29650A357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75A-CBAB-4B5F-ACC2-E1149B60C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9987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FDFF57-2AC9-B8F1-DCAB-5AC2FB966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BB8570-3D7C-2484-2E12-8B248D7D1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D3E1E7-BF1B-D1F5-2E60-47B996D9C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E9B-6721-441A-8298-E6C3EA686A51}" type="datetimeFigureOut">
              <a:rPr lang="fr-FR" smtClean="0"/>
              <a:t>22/12/2025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5B60CE-7D3F-D355-5A26-5586A217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426E09-809E-8A60-E512-18BBA5222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75A-CBAB-4B5F-ACC2-E1149B60C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4903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4B786A-3618-59D9-1545-4B4E533D2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73E98A-0890-BFD0-62BE-E828FFD21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B8E83C4-E107-B8B2-F562-9182B28F2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3F00DB-DC9B-D2F8-7241-66DACF94F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E9B-6721-441A-8298-E6C3EA686A51}" type="datetimeFigureOut">
              <a:rPr lang="fr-FR" smtClean="0"/>
              <a:t>22/12/2025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BF4956-9319-0E6C-12DE-12B7A21B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C076A7-665F-56BB-D4B7-E036C2DA3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75A-CBAB-4B5F-ACC2-E1149B60C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3829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6E8109-1D3C-6168-A9D9-974537114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1155DE-EA0B-3D4D-F4D2-3E997040A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492C232-8908-E8EB-7E75-6942026A8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97641D9-422C-D9E1-F14D-F6CAEE7DE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1CC337A-36CA-9D6E-ABFA-226A2F6DA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66EAE6C-172A-C5B4-1EFD-CD89DB42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E9B-6721-441A-8298-E6C3EA686A51}" type="datetimeFigureOut">
              <a:rPr lang="fr-FR" smtClean="0"/>
              <a:t>22/12/2025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6FAE8EE-2FA5-CBD5-860F-30027AC5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37DD78A-69A5-CF8C-C68D-C20E7E2E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75A-CBAB-4B5F-ACC2-E1149B60C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5123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7119FC-F680-B68C-8CB8-1311F8998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22D7B7-93F1-E33A-D39E-6CA705CFD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E9B-6721-441A-8298-E6C3EA686A51}" type="datetimeFigureOut">
              <a:rPr lang="fr-FR" smtClean="0"/>
              <a:t>22/12/2025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2869689-6863-E6D8-B1F5-3D3C0627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68FE4B-BB35-73EE-F782-69E7A96B9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75A-CBAB-4B5F-ACC2-E1149B60C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2952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B81C4B6-C398-4ECF-94BC-E172BE0AE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E9B-6721-441A-8298-E6C3EA686A51}" type="datetimeFigureOut">
              <a:rPr lang="fr-FR" smtClean="0"/>
              <a:t>22/12/2025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D1B4FB5-57C8-0F1F-F0EB-F3A3D3934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6832B3-FBE3-BF4E-1B61-7D010C091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75A-CBAB-4B5F-ACC2-E1149B60C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699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A71697-9754-DF44-A103-3D7FBC29A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0CB101-B3D4-91BA-22D9-FF28797F5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4097097-0667-FADA-0472-24BB150F7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8D3FE7-D580-1E02-AF41-4554FEED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E9B-6721-441A-8298-E6C3EA686A51}" type="datetimeFigureOut">
              <a:rPr lang="fr-FR" smtClean="0"/>
              <a:t>22/12/2025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3D6E501-7A85-77C5-3C04-BB043BCD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075CE3-3312-2A9C-53E6-874E28A69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75A-CBAB-4B5F-ACC2-E1149B60C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4739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BB3A6F-413B-328B-05F2-FA7BAC6E3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9AB5A1B-66EA-19D5-783B-739B9F41C7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EB47E59-2592-3BB3-CACE-C9190D84F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623AF9-6FB4-B6B1-E613-0B5253526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E9B-6721-441A-8298-E6C3EA686A51}" type="datetimeFigureOut">
              <a:rPr lang="fr-FR" smtClean="0"/>
              <a:t>22/12/2025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9BA3CEB-7D87-3870-E57F-8DB97230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3F6E5B-8AD6-E31D-A040-43ADCBF8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75A-CBAB-4B5F-ACC2-E1149B60C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293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A8EEFB-3616-E21A-968A-FF2088762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E30AEA9-6681-4FBC-E476-C9768C21B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AD1645-B506-52AA-98FB-143DCF511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E9B-6721-441A-8298-E6C3EA686A51}" type="datetimeFigureOut">
              <a:rPr lang="fr-FR" smtClean="0"/>
              <a:t>22/12/2025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C0B402-5A53-6B48-0A89-C1BCFC04C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104AE0-BD2F-E4E5-A3CC-4D157E06B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75A-CBAB-4B5F-ACC2-E1149B60C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86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9F4ED53-D461-1F31-23B0-0DD1FBA31F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1EBF2A-198D-C4D5-CF7D-4E74EE4C7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5DCCF3-12AE-D63E-4623-3D59E81ED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01E9B-6721-441A-8298-E6C3EA686A51}" type="datetimeFigureOut">
              <a:rPr lang="fr-FR" smtClean="0"/>
              <a:t>22/12/2025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50C02A-51C2-A35E-1E94-25A6F2AE4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F8EEF2-A3A3-CD6C-68FB-096D136A3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75A-CBAB-4B5F-ACC2-E1149B60C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8320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EE732C1-3D20-7978-E361-3F2B73671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C804A23-D071-A607-5D45-8F917FDB7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F84077-C17B-43AB-3A27-37325337D6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01E9B-6721-441A-8298-E6C3EA686A51}" type="datetimeFigureOut">
              <a:rPr lang="fr-FR" smtClean="0"/>
              <a:t>22/12/2025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ED4277-3EE4-7FD2-7836-DD3C68C17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684844-FB17-4D6F-646B-212010CAC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C075A-CBAB-4B5F-ACC2-E1149B60C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116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FDC89C-0B4C-C0F9-505A-3CEF6AE0BB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979" y="1856234"/>
            <a:ext cx="2776363" cy="825690"/>
          </a:xfrm>
        </p:spPr>
        <p:txBody>
          <a:bodyPr anchor="b">
            <a:normAutofit/>
          </a:bodyPr>
          <a:lstStyle/>
          <a:p>
            <a:pPr algn="l"/>
            <a:r>
              <a:rPr lang="fr-FR" sz="4800" dirty="0" err="1">
                <a:latin typeface="Bahnschrift SemiBold" panose="020B0502040204020203" pitchFamily="34" charset="0"/>
              </a:rPr>
              <a:t>CESIZen</a:t>
            </a:r>
            <a:endParaRPr lang="fr-FR" sz="4800" dirty="0">
              <a:latin typeface="Bahnschrift SemiBold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8D05449-9E4A-1521-D955-00BB0C6E7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anchor="ctr">
            <a:normAutofit/>
          </a:bodyPr>
          <a:lstStyle/>
          <a:p>
            <a:pPr algn="l"/>
            <a:r>
              <a:rPr lang="fr-FR" dirty="0">
                <a:solidFill>
                  <a:srgbClr val="FFFFFF"/>
                </a:solidFill>
                <a:latin typeface="Bahnschrift SemiBold Condensed" panose="020B0502040204020203" pitchFamily="34" charset="0"/>
              </a:rPr>
              <a:t>L’application de votre santé mentale</a:t>
            </a:r>
          </a:p>
        </p:txBody>
      </p:sp>
      <p:pic>
        <p:nvPicPr>
          <p:cNvPr id="7" name="Image 6" descr="Une image contenant texte, Police, symbole, logo&#10;&#10;Le contenu généré par l’IA peut être incorrect.">
            <a:extLst>
              <a:ext uri="{FF2B5EF4-FFF2-40B4-BE49-F238E27FC236}">
                <a16:creationId xmlns:a16="http://schemas.microsoft.com/office/drawing/2014/main" id="{78D3A4E3-F80E-7632-BC62-1023EC9764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823" y="1017277"/>
            <a:ext cx="2047500" cy="2340000"/>
          </a:xfrm>
          <a:prstGeom prst="rect">
            <a:avLst/>
          </a:prstGeom>
        </p:spPr>
      </p:pic>
      <p:pic>
        <p:nvPicPr>
          <p:cNvPr id="15" name="Image 14" descr="Une image contenant texte, capture d’écran, Police, jaune&#10;&#10;Le contenu généré par l’IA peut être incorrect.">
            <a:extLst>
              <a:ext uri="{FF2B5EF4-FFF2-40B4-BE49-F238E27FC236}">
                <a16:creationId xmlns:a16="http://schemas.microsoft.com/office/drawing/2014/main" id="{33CC7429-FF1A-DF1E-81CF-1D1A3D8E9D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6327" y="1017277"/>
            <a:ext cx="2340000" cy="2340000"/>
          </a:xfrm>
          <a:prstGeom prst="rect">
            <a:avLst/>
          </a:prstGeom>
        </p:spPr>
      </p:pic>
      <p:sp>
        <p:nvSpPr>
          <p:cNvPr id="17" name="Espace réservé de la date 16">
            <a:extLst>
              <a:ext uri="{FF2B5EF4-FFF2-40B4-BE49-F238E27FC236}">
                <a16:creationId xmlns:a16="http://schemas.microsoft.com/office/drawing/2014/main" id="{B36E6687-8D86-E580-9AD1-3F6170E2D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22/12/2025</a:t>
            </a:r>
          </a:p>
        </p:txBody>
      </p:sp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CA9482EA-893D-0B11-93A7-E2B22F904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075A-CBAB-4B5F-ACC2-E1149B60C2A9}" type="slidenum">
              <a:rPr lang="fr-FR" b="1" smtClean="0">
                <a:solidFill>
                  <a:schemeClr val="bg1"/>
                </a:solidFill>
              </a:rPr>
              <a:t>1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4" name="Espace réservé de la date 16">
            <a:extLst>
              <a:ext uri="{FF2B5EF4-FFF2-40B4-BE49-F238E27FC236}">
                <a16:creationId xmlns:a16="http://schemas.microsoft.com/office/drawing/2014/main" id="{3200C498-083C-BAE4-7944-2D7B4EE5206F}"/>
              </a:ext>
            </a:extLst>
          </p:cNvPr>
          <p:cNvSpPr txBox="1">
            <a:spLocks/>
          </p:cNvSpPr>
          <p:nvPr/>
        </p:nvSpPr>
        <p:spPr>
          <a:xfrm>
            <a:off x="5038066" y="6446622"/>
            <a:ext cx="35290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bg1"/>
                </a:solidFill>
              </a:rPr>
              <a:t>CDA – Bloc 1 « Concevoir les solutions logicielles »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767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94BA3F-EC03-004D-2CA5-14CF5FAA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12169"/>
            <a:ext cx="9688296" cy="897035"/>
          </a:xfrm>
        </p:spPr>
        <p:txBody>
          <a:bodyPr anchor="b">
            <a:normAutofit/>
          </a:bodyPr>
          <a:lstStyle/>
          <a:p>
            <a:r>
              <a:rPr lang="fr-FR" sz="3600" dirty="0">
                <a:latin typeface="Bahnschrift" panose="020B0502040204020203" pitchFamily="34" charset="0"/>
              </a:rPr>
              <a:t>Problématique &amp; Contexte de la Santé Mentale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44C2BF-D0C3-5652-3547-19019B02C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521373"/>
            <a:ext cx="9688296" cy="4351394"/>
          </a:xfrm>
        </p:spPr>
        <p:txBody>
          <a:bodyPr anchor="t">
            <a:normAutofit/>
          </a:bodyPr>
          <a:lstStyle/>
          <a:p>
            <a:r>
              <a:rPr lang="fr-FR" sz="2400" dirty="0"/>
              <a:t>1 personne / 5 atteinte de troubles psychiatrique</a:t>
            </a:r>
          </a:p>
          <a:p>
            <a:endParaRPr lang="fr-FR" sz="2400" dirty="0"/>
          </a:p>
          <a:p>
            <a:endParaRPr lang="fr-FR" sz="2400" dirty="0"/>
          </a:p>
          <a:p>
            <a:endParaRPr lang="fr-FR" sz="2400" dirty="0"/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000" dirty="0"/>
              <a:t>Enjeu majeur en France</a:t>
            </a:r>
            <a:endParaRPr lang="fr-FR" sz="2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16">
            <a:extLst>
              <a:ext uri="{FF2B5EF4-FFF2-40B4-BE49-F238E27FC236}">
                <a16:creationId xmlns:a16="http://schemas.microsoft.com/office/drawing/2014/main" id="{71690208-5AC8-B772-3B8A-3E19E4D632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22/12/2025</a:t>
            </a:r>
          </a:p>
        </p:txBody>
      </p:sp>
      <p:sp>
        <p:nvSpPr>
          <p:cNvPr id="5" name="Espace réservé du numéro de diapositive 17">
            <a:extLst>
              <a:ext uri="{FF2B5EF4-FFF2-40B4-BE49-F238E27FC236}">
                <a16:creationId xmlns:a16="http://schemas.microsoft.com/office/drawing/2014/main" id="{0349D52B-6885-D3EE-ED25-5BB309959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6C075A-CBAB-4B5F-ACC2-E1149B60C2A9}" type="slidenum">
              <a:rPr lang="fr-FR" b="1" smtClean="0">
                <a:solidFill>
                  <a:schemeClr val="bg1"/>
                </a:solidFill>
              </a:rPr>
              <a:t>2</a:t>
            </a:fld>
            <a:endParaRPr lang="fr-FR" b="1" dirty="0">
              <a:solidFill>
                <a:schemeClr val="bg1"/>
              </a:solidFill>
            </a:endParaRPr>
          </a:p>
        </p:txBody>
      </p:sp>
      <p:pic>
        <p:nvPicPr>
          <p:cNvPr id="7" name="Image 6" descr="Une image contenant texte, Police, blanc&#10;&#10;Le contenu généré par l’IA peut être incorrect.">
            <a:extLst>
              <a:ext uri="{FF2B5EF4-FFF2-40B4-BE49-F238E27FC236}">
                <a16:creationId xmlns:a16="http://schemas.microsoft.com/office/drawing/2014/main" id="{2578653A-CC7F-161D-E592-C0350D322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397" y="2236570"/>
            <a:ext cx="32766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289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16">
            <a:extLst>
              <a:ext uri="{FF2B5EF4-FFF2-40B4-BE49-F238E27FC236}">
                <a16:creationId xmlns:a16="http://schemas.microsoft.com/office/drawing/2014/main" id="{AED5A9A3-0390-A585-0379-535D9423A7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22/12/2025</a:t>
            </a:r>
          </a:p>
        </p:txBody>
      </p:sp>
      <p:sp>
        <p:nvSpPr>
          <p:cNvPr id="5" name="Espace réservé du numéro de diapositive 17">
            <a:extLst>
              <a:ext uri="{FF2B5EF4-FFF2-40B4-BE49-F238E27FC236}">
                <a16:creationId xmlns:a16="http://schemas.microsoft.com/office/drawing/2014/main" id="{203002FC-1FBA-03BF-6E3C-3F11C71BE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6C075A-CBAB-4B5F-ACC2-E1149B60C2A9}" type="slidenum">
              <a:rPr lang="fr-FR" b="1" smtClean="0">
                <a:solidFill>
                  <a:schemeClr val="bg1"/>
                </a:solidFill>
              </a:rPr>
              <a:t>3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C8D05D7-567C-BB87-8162-1D829834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12169"/>
            <a:ext cx="9688296" cy="897035"/>
          </a:xfrm>
        </p:spPr>
        <p:txBody>
          <a:bodyPr anchor="b">
            <a:normAutofit/>
          </a:bodyPr>
          <a:lstStyle/>
          <a:p>
            <a:r>
              <a:rPr lang="fr-FR" sz="3600" dirty="0">
                <a:latin typeface="Bahnschrift" panose="020B0502040204020203" pitchFamily="34" charset="0"/>
              </a:rPr>
              <a:t>Objectifs Fonctionnels &amp; Métiers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DCA707A2-6403-8A65-F212-90F456424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521373"/>
            <a:ext cx="9688296" cy="4351394"/>
          </a:xfrm>
        </p:spPr>
        <p:txBody>
          <a:bodyPr anchor="t">
            <a:normAutofit/>
          </a:bodyPr>
          <a:lstStyle/>
          <a:p>
            <a:r>
              <a:rPr lang="fr-FR" sz="2000" dirty="0"/>
              <a:t>Accompagner dans la compréhension de la santé mentale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Outils d’</a:t>
            </a:r>
            <a:r>
              <a:rPr lang="fr-FR" sz="2000" dirty="0" err="1"/>
              <a:t>auto-diagnostic</a:t>
            </a:r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Performances et optimisation</a:t>
            </a:r>
          </a:p>
        </p:txBody>
      </p:sp>
      <p:pic>
        <p:nvPicPr>
          <p:cNvPr id="1026" name="Picture 2" descr="Free Cogwheel Vector Art - Download 101+ Cogwheel Icons &amp; Graphics - Pixabay">
            <a:extLst>
              <a:ext uri="{FF2B5EF4-FFF2-40B4-BE49-F238E27FC236}">
                <a16:creationId xmlns:a16="http://schemas.microsoft.com/office/drawing/2014/main" id="{E905BB30-5798-DF26-A645-CF4DE4E2A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164" y="2178189"/>
            <a:ext cx="3133725" cy="3428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72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16">
            <a:extLst>
              <a:ext uri="{FF2B5EF4-FFF2-40B4-BE49-F238E27FC236}">
                <a16:creationId xmlns:a16="http://schemas.microsoft.com/office/drawing/2014/main" id="{1F77A089-FA93-87FC-5346-56957BF5FF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22/12/2025</a:t>
            </a:r>
          </a:p>
        </p:txBody>
      </p:sp>
      <p:sp>
        <p:nvSpPr>
          <p:cNvPr id="5" name="Espace réservé du numéro de diapositive 17">
            <a:extLst>
              <a:ext uri="{FF2B5EF4-FFF2-40B4-BE49-F238E27FC236}">
                <a16:creationId xmlns:a16="http://schemas.microsoft.com/office/drawing/2014/main" id="{18A7663B-6436-0211-DED7-68EFDD495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6C075A-CBAB-4B5F-ACC2-E1149B60C2A9}" type="slidenum">
              <a:rPr lang="fr-FR" b="1" smtClean="0">
                <a:solidFill>
                  <a:schemeClr val="bg1"/>
                </a:solidFill>
              </a:rPr>
              <a:t>4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99C1D1A-79D7-A2CD-A17A-D9BB385A5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12169"/>
            <a:ext cx="9688296" cy="897035"/>
          </a:xfrm>
        </p:spPr>
        <p:txBody>
          <a:bodyPr anchor="b">
            <a:normAutofit/>
          </a:bodyPr>
          <a:lstStyle/>
          <a:p>
            <a:r>
              <a:rPr lang="fr-FR" sz="3600" dirty="0">
                <a:latin typeface="Bahnschrift" panose="020B0502040204020203" pitchFamily="34" charset="0"/>
              </a:rPr>
              <a:t>Parties Prenantes &amp; Acteurs</a:t>
            </a:r>
          </a:p>
        </p:txBody>
      </p:sp>
      <p:pic>
        <p:nvPicPr>
          <p:cNvPr id="3" name="Espace réservé du contenu 2" descr="Une image contenant texte, diagramme, ligne, Police&#10;&#10;Le contenu généré par l’IA peut être incorrect.">
            <a:extLst>
              <a:ext uri="{FF2B5EF4-FFF2-40B4-BE49-F238E27FC236}">
                <a16:creationId xmlns:a16="http://schemas.microsoft.com/office/drawing/2014/main" id="{E6CA8681-2064-1BEF-9E2E-A3273952D3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920" y="2425475"/>
            <a:ext cx="6537973" cy="2542037"/>
          </a:xfrm>
        </p:spPr>
      </p:pic>
    </p:spTree>
    <p:extLst>
      <p:ext uri="{BB962C8B-B14F-4D97-AF65-F5344CB8AC3E}">
        <p14:creationId xmlns:p14="http://schemas.microsoft.com/office/powerpoint/2010/main" val="2088998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D3E46-F408-0CD2-A47D-6191921DD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EF3C53F-3ED6-07B2-9EFC-DDC836AD7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C01957-5F2A-9DA3-7E80-465C554DA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CBB5C1-2EE4-2A6C-E01E-D50B814EF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16">
            <a:extLst>
              <a:ext uri="{FF2B5EF4-FFF2-40B4-BE49-F238E27FC236}">
                <a16:creationId xmlns:a16="http://schemas.microsoft.com/office/drawing/2014/main" id="{7675E8CA-BCCD-4EAE-02D7-57C274BD92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22/12/2025</a:t>
            </a:r>
          </a:p>
        </p:txBody>
      </p:sp>
      <p:sp>
        <p:nvSpPr>
          <p:cNvPr id="5" name="Espace réservé du numéro de diapositive 17">
            <a:extLst>
              <a:ext uri="{FF2B5EF4-FFF2-40B4-BE49-F238E27FC236}">
                <a16:creationId xmlns:a16="http://schemas.microsoft.com/office/drawing/2014/main" id="{A4ABDDCD-1422-6CE9-0C48-C078332D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6C075A-CBAB-4B5F-ACC2-E1149B60C2A9}" type="slidenum">
              <a:rPr lang="fr-FR" b="1" smtClean="0">
                <a:solidFill>
                  <a:schemeClr val="bg1"/>
                </a:solidFill>
              </a:rPr>
              <a:t>5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C6C083E-EB68-1400-404D-561229188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12169"/>
            <a:ext cx="9688296" cy="897035"/>
          </a:xfrm>
        </p:spPr>
        <p:txBody>
          <a:bodyPr anchor="b">
            <a:normAutofit/>
          </a:bodyPr>
          <a:lstStyle/>
          <a:p>
            <a:r>
              <a:rPr lang="fr-FR" sz="3600" dirty="0">
                <a:latin typeface="Bahnschrift" panose="020B0502040204020203" pitchFamily="34" charset="0"/>
              </a:rPr>
              <a:t>Parties Prenantes &amp; Acteurs</a:t>
            </a:r>
          </a:p>
        </p:txBody>
      </p:sp>
      <p:pic>
        <p:nvPicPr>
          <p:cNvPr id="3" name="Espace réservé du contenu 2" descr="Une image contenant texte, diagramme, ligne, Police&#10;&#10;Le contenu généré par l’IA peut être incorrect.">
            <a:extLst>
              <a:ext uri="{FF2B5EF4-FFF2-40B4-BE49-F238E27FC236}">
                <a16:creationId xmlns:a16="http://schemas.microsoft.com/office/drawing/2014/main" id="{4DC5F8E5-7DEA-8E01-1FC5-C804366D9A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920" y="2425475"/>
            <a:ext cx="6537973" cy="2542037"/>
          </a:xfrm>
        </p:spPr>
      </p:pic>
      <p:pic>
        <p:nvPicPr>
          <p:cNvPr id="7" name="Image 6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9CC6A2CD-DA7A-C1C3-36D1-F9A74125F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206" y="1499612"/>
            <a:ext cx="9497587" cy="385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06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16">
            <a:extLst>
              <a:ext uri="{FF2B5EF4-FFF2-40B4-BE49-F238E27FC236}">
                <a16:creationId xmlns:a16="http://schemas.microsoft.com/office/drawing/2014/main" id="{B9A2198C-32CF-241A-8C9B-06A0D656E7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22/12/2025</a:t>
            </a:r>
          </a:p>
        </p:txBody>
      </p:sp>
      <p:sp>
        <p:nvSpPr>
          <p:cNvPr id="5" name="Espace réservé du numéro de diapositive 17">
            <a:extLst>
              <a:ext uri="{FF2B5EF4-FFF2-40B4-BE49-F238E27FC236}">
                <a16:creationId xmlns:a16="http://schemas.microsoft.com/office/drawing/2014/main" id="{89575A8A-80A6-B043-7F89-A860C52D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6C075A-CBAB-4B5F-ACC2-E1149B60C2A9}" type="slidenum">
              <a:rPr lang="fr-FR" b="1" smtClean="0">
                <a:solidFill>
                  <a:schemeClr val="bg1"/>
                </a:solidFill>
              </a:rPr>
              <a:t>6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32BFA062-29F0-E3EC-F5F8-387DE429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12169"/>
            <a:ext cx="9688296" cy="897035"/>
          </a:xfrm>
        </p:spPr>
        <p:txBody>
          <a:bodyPr anchor="b">
            <a:normAutofit/>
          </a:bodyPr>
          <a:lstStyle/>
          <a:p>
            <a:r>
              <a:rPr lang="fr-FR" sz="3600" dirty="0">
                <a:latin typeface="Bahnschrift" panose="020B0502040204020203" pitchFamily="34" charset="0"/>
              </a:rPr>
              <a:t>Besoins Fonctionnels &amp; Priorisation</a:t>
            </a:r>
          </a:p>
        </p:txBody>
      </p:sp>
      <p:pic>
        <p:nvPicPr>
          <p:cNvPr id="2050" name="Picture 2" descr="Account Generic Flat icon | Freepik">
            <a:extLst>
              <a:ext uri="{FF2B5EF4-FFF2-40B4-BE49-F238E27FC236}">
                <a16:creationId xmlns:a16="http://schemas.microsoft.com/office/drawing/2014/main" id="{32E0DDBA-A4A3-B364-FE23-1A8CD891138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158" y="1509896"/>
            <a:ext cx="2004700" cy="200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formation - Icônes panneaux gratuites">
            <a:extLst>
              <a:ext uri="{FF2B5EF4-FFF2-40B4-BE49-F238E27FC236}">
                <a16:creationId xmlns:a16="http://schemas.microsoft.com/office/drawing/2014/main" id="{C477A6ED-F8E4-D60D-EE39-888F9E273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616" y="1521373"/>
            <a:ext cx="1717857" cy="1717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eart Rate: Variations And Factors Affecting It | OnlyMyHealth">
            <a:extLst>
              <a:ext uri="{FF2B5EF4-FFF2-40B4-BE49-F238E27FC236}">
                <a16:creationId xmlns:a16="http://schemas.microsoft.com/office/drawing/2014/main" id="{D6821CB3-7FBE-A9EE-1B9B-0A987E932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488" y="1509896"/>
            <a:ext cx="2743200" cy="1543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C8F518A-590B-8FEA-0B33-A44FE5D7DC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4239" y="4135524"/>
            <a:ext cx="9432609" cy="136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056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16">
            <a:extLst>
              <a:ext uri="{FF2B5EF4-FFF2-40B4-BE49-F238E27FC236}">
                <a16:creationId xmlns:a16="http://schemas.microsoft.com/office/drawing/2014/main" id="{5CCD2F42-AD34-6B38-94D8-80532F364E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22/12/2025</a:t>
            </a:r>
          </a:p>
        </p:txBody>
      </p:sp>
      <p:sp>
        <p:nvSpPr>
          <p:cNvPr id="5" name="Espace réservé du numéro de diapositive 17">
            <a:extLst>
              <a:ext uri="{FF2B5EF4-FFF2-40B4-BE49-F238E27FC236}">
                <a16:creationId xmlns:a16="http://schemas.microsoft.com/office/drawing/2014/main" id="{2AEF2C22-482F-6051-C924-0C76827B9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6C075A-CBAB-4B5F-ACC2-E1149B60C2A9}" type="slidenum">
              <a:rPr lang="fr-FR" b="1" smtClean="0">
                <a:solidFill>
                  <a:schemeClr val="bg1"/>
                </a:solidFill>
              </a:rPr>
              <a:t>7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90C1230-5700-6414-31E7-876A0614A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12169"/>
            <a:ext cx="9688296" cy="897035"/>
          </a:xfrm>
        </p:spPr>
        <p:txBody>
          <a:bodyPr anchor="b">
            <a:normAutofit/>
          </a:bodyPr>
          <a:lstStyle/>
          <a:p>
            <a:r>
              <a:rPr lang="fr-FR" sz="3600" dirty="0">
                <a:latin typeface="Bahnschrift" panose="020B0502040204020203" pitchFamily="34" charset="0"/>
              </a:rPr>
              <a:t>Périmètre Fonctionnel</a:t>
            </a:r>
          </a:p>
        </p:txBody>
      </p:sp>
      <p:pic>
        <p:nvPicPr>
          <p:cNvPr id="3" name="Espace réservé du contenu 2" descr="Une image contenant texte, capture d’écran, Police, conception&#10;&#10;Le contenu généré par l’IA peut être incorrect.">
            <a:extLst>
              <a:ext uri="{FF2B5EF4-FFF2-40B4-BE49-F238E27FC236}">
                <a16:creationId xmlns:a16="http://schemas.microsoft.com/office/drawing/2014/main" id="{0CF33AD5-7E21-7E69-0200-75ED016EA8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372" y="1520825"/>
            <a:ext cx="6119069" cy="4351338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4995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16">
            <a:extLst>
              <a:ext uri="{FF2B5EF4-FFF2-40B4-BE49-F238E27FC236}">
                <a16:creationId xmlns:a16="http://schemas.microsoft.com/office/drawing/2014/main" id="{D26B689C-A14F-0DCE-66FB-A288972600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22/12/2025</a:t>
            </a:r>
          </a:p>
        </p:txBody>
      </p:sp>
      <p:sp>
        <p:nvSpPr>
          <p:cNvPr id="5" name="Espace réservé du numéro de diapositive 17">
            <a:extLst>
              <a:ext uri="{FF2B5EF4-FFF2-40B4-BE49-F238E27FC236}">
                <a16:creationId xmlns:a16="http://schemas.microsoft.com/office/drawing/2014/main" id="{22EF0FEE-0779-6EB8-CA52-42C4B4007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6C075A-CBAB-4B5F-ACC2-E1149B60C2A9}" type="slidenum">
              <a:rPr lang="fr-FR" b="1" smtClean="0">
                <a:solidFill>
                  <a:schemeClr val="bg1"/>
                </a:solidFill>
              </a:rPr>
              <a:t>8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E1E99E96-E419-9228-8975-F783BAD75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12169"/>
            <a:ext cx="9688296" cy="897035"/>
          </a:xfrm>
        </p:spPr>
        <p:txBody>
          <a:bodyPr anchor="b">
            <a:normAutofit/>
          </a:bodyPr>
          <a:lstStyle/>
          <a:p>
            <a:r>
              <a:rPr lang="fr-FR" sz="3600" dirty="0">
                <a:latin typeface="Bahnschrift" panose="020B0502040204020203" pitchFamily="34" charset="0"/>
              </a:rPr>
              <a:t>Architecture Logicielle &amp; Choix Techniques</a:t>
            </a:r>
          </a:p>
        </p:txBody>
      </p:sp>
      <p:pic>
        <p:nvPicPr>
          <p:cNvPr id="15" name="Espace réservé du contenu 14" descr="Une image contenant texte, capture d’écran, diagramme, conception&#10;&#10;Le contenu généré par l’IA peut être incorrect.">
            <a:extLst>
              <a:ext uri="{FF2B5EF4-FFF2-40B4-BE49-F238E27FC236}">
                <a16:creationId xmlns:a16="http://schemas.microsoft.com/office/drawing/2014/main" id="{1B6FF1B1-1A10-5ED5-D4E1-D6EF70A62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47719"/>
            <a:ext cx="10515600" cy="2107150"/>
          </a:xfrm>
        </p:spPr>
      </p:pic>
    </p:spTree>
    <p:extLst>
      <p:ext uri="{BB962C8B-B14F-4D97-AF65-F5344CB8AC3E}">
        <p14:creationId xmlns:p14="http://schemas.microsoft.com/office/powerpoint/2010/main" val="2940492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9E5AF-6883-C008-FE09-69D87831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6FB0211-5F7C-4B65-9FD0-C2F44D136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567AA9-ACFB-9324-ADA3-59038AAA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B0903F-22B3-2078-EFD6-94FFC28CE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16">
            <a:extLst>
              <a:ext uri="{FF2B5EF4-FFF2-40B4-BE49-F238E27FC236}">
                <a16:creationId xmlns:a16="http://schemas.microsoft.com/office/drawing/2014/main" id="{C6CEC0D5-0CA7-45AD-C5D0-0D4BA7A3C9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22/12/2025</a:t>
            </a:r>
          </a:p>
        </p:txBody>
      </p:sp>
      <p:sp>
        <p:nvSpPr>
          <p:cNvPr id="5" name="Espace réservé du numéro de diapositive 17">
            <a:extLst>
              <a:ext uri="{FF2B5EF4-FFF2-40B4-BE49-F238E27FC236}">
                <a16:creationId xmlns:a16="http://schemas.microsoft.com/office/drawing/2014/main" id="{6FDD0F07-24F2-7A57-513F-3C123CAE4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6C075A-CBAB-4B5F-ACC2-E1149B60C2A9}" type="slidenum">
              <a:rPr lang="fr-FR" b="1" smtClean="0">
                <a:solidFill>
                  <a:schemeClr val="bg1"/>
                </a:solidFill>
              </a:rPr>
              <a:t>9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EA76B8D5-682F-9488-C56E-371C7B12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12169"/>
            <a:ext cx="9688296" cy="897035"/>
          </a:xfrm>
        </p:spPr>
        <p:txBody>
          <a:bodyPr anchor="b">
            <a:normAutofit/>
          </a:bodyPr>
          <a:lstStyle/>
          <a:p>
            <a:r>
              <a:rPr lang="fr-FR" sz="3600" dirty="0">
                <a:latin typeface="Bahnschrift" panose="020B0502040204020203" pitchFamily="34" charset="0"/>
              </a:rPr>
              <a:t>Architecture Logicielle &amp; Choix Techniques</a:t>
            </a:r>
          </a:p>
        </p:txBody>
      </p:sp>
      <p:pic>
        <p:nvPicPr>
          <p:cNvPr id="11" name="Espace réservé du contenu 10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59FADC0D-0099-DE26-B0E2-6D33E49CB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62" y="2029619"/>
            <a:ext cx="10353675" cy="3943350"/>
          </a:xfrm>
        </p:spPr>
      </p:pic>
    </p:spTree>
    <p:extLst>
      <p:ext uri="{BB962C8B-B14F-4D97-AF65-F5344CB8AC3E}">
        <p14:creationId xmlns:p14="http://schemas.microsoft.com/office/powerpoint/2010/main" val="2806173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16">
            <a:extLst>
              <a:ext uri="{FF2B5EF4-FFF2-40B4-BE49-F238E27FC236}">
                <a16:creationId xmlns:a16="http://schemas.microsoft.com/office/drawing/2014/main" id="{300F5EDE-143F-7FA3-6F1E-D7ED2BA1B3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22/12/2025</a:t>
            </a:r>
          </a:p>
        </p:txBody>
      </p:sp>
      <p:sp>
        <p:nvSpPr>
          <p:cNvPr id="5" name="Espace réservé du numéro de diapositive 17">
            <a:extLst>
              <a:ext uri="{FF2B5EF4-FFF2-40B4-BE49-F238E27FC236}">
                <a16:creationId xmlns:a16="http://schemas.microsoft.com/office/drawing/2014/main" id="{14A26263-E394-738D-206F-044A6CA6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6C075A-CBAB-4B5F-ACC2-E1149B60C2A9}" type="slidenum">
              <a:rPr lang="fr-FR" b="1" smtClean="0">
                <a:solidFill>
                  <a:schemeClr val="bg1"/>
                </a:solidFill>
              </a:rPr>
              <a:t>10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1FCE25B-B2EA-B7DD-62A1-2BDD09C5A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12169"/>
            <a:ext cx="9688296" cy="897035"/>
          </a:xfrm>
        </p:spPr>
        <p:txBody>
          <a:bodyPr anchor="b">
            <a:normAutofit/>
          </a:bodyPr>
          <a:lstStyle/>
          <a:p>
            <a:r>
              <a:rPr lang="fr-FR" sz="3600" dirty="0">
                <a:latin typeface="Bahnschrift" panose="020B0502040204020203" pitchFamily="34" charset="0"/>
              </a:rPr>
              <a:t>Modélisation des Données</a:t>
            </a:r>
          </a:p>
        </p:txBody>
      </p:sp>
      <p:pic>
        <p:nvPicPr>
          <p:cNvPr id="11" name="Espace réservé du contenu 10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65625ED8-4D4E-D51B-0A4E-F6F24D25B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864" y="1208777"/>
            <a:ext cx="5131362" cy="5192449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384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D7C48-EE03-B250-8D2C-8F0E3E197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Espace réservé de la date 16">
            <a:extLst>
              <a:ext uri="{FF2B5EF4-FFF2-40B4-BE49-F238E27FC236}">
                <a16:creationId xmlns:a16="http://schemas.microsoft.com/office/drawing/2014/main" id="{9C0D5167-DC99-54F1-14DD-AB7A716745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22/12/2025</a:t>
            </a:r>
          </a:p>
        </p:txBody>
      </p:sp>
      <p:sp>
        <p:nvSpPr>
          <p:cNvPr id="3" name="Espace réservé du numéro de diapositive 17">
            <a:extLst>
              <a:ext uri="{FF2B5EF4-FFF2-40B4-BE49-F238E27FC236}">
                <a16:creationId xmlns:a16="http://schemas.microsoft.com/office/drawing/2014/main" id="{8AD95657-69E1-0686-C6F2-D2D967294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6C075A-CBAB-4B5F-ACC2-E1149B60C2A9}" type="slidenum">
              <a:rPr lang="fr-FR" b="1" smtClean="0">
                <a:solidFill>
                  <a:schemeClr val="bg1"/>
                </a:solidFill>
              </a:rPr>
              <a:t>11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FAD97D9A-2FBA-DF77-B03A-C555C833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12169"/>
            <a:ext cx="9688296" cy="897035"/>
          </a:xfrm>
        </p:spPr>
        <p:txBody>
          <a:bodyPr anchor="b">
            <a:normAutofit/>
          </a:bodyPr>
          <a:lstStyle/>
          <a:p>
            <a:r>
              <a:rPr lang="fr-FR" sz="3600" dirty="0">
                <a:latin typeface="Bahnschrift" panose="020B0502040204020203" pitchFamily="34" charset="0"/>
              </a:rPr>
              <a:t>Modélisation des Données</a:t>
            </a:r>
          </a:p>
        </p:txBody>
      </p:sp>
      <p:pic>
        <p:nvPicPr>
          <p:cNvPr id="18" name="Espace réservé du contenu 1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481737AE-19AE-D6F6-1F1F-BD06033113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475" y="1208350"/>
            <a:ext cx="5393155" cy="5180764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0278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16">
            <a:extLst>
              <a:ext uri="{FF2B5EF4-FFF2-40B4-BE49-F238E27FC236}">
                <a16:creationId xmlns:a16="http://schemas.microsoft.com/office/drawing/2014/main" id="{A41EF2B5-C1EF-5054-56A3-3FD3219086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22/12/2025</a:t>
            </a:r>
          </a:p>
        </p:txBody>
      </p:sp>
      <p:sp>
        <p:nvSpPr>
          <p:cNvPr id="5" name="Espace réservé du numéro de diapositive 17">
            <a:extLst>
              <a:ext uri="{FF2B5EF4-FFF2-40B4-BE49-F238E27FC236}">
                <a16:creationId xmlns:a16="http://schemas.microsoft.com/office/drawing/2014/main" id="{61688043-C92B-68E4-00C3-726BD8E48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6C075A-CBAB-4B5F-ACC2-E1149B60C2A9}" type="slidenum">
              <a:rPr lang="fr-FR" b="1" smtClean="0">
                <a:solidFill>
                  <a:schemeClr val="bg1"/>
                </a:solidFill>
              </a:rPr>
              <a:t>12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90099797-7264-1921-5913-4C85D3A6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12169"/>
            <a:ext cx="9688296" cy="897035"/>
          </a:xfrm>
        </p:spPr>
        <p:txBody>
          <a:bodyPr anchor="b">
            <a:normAutofit/>
          </a:bodyPr>
          <a:lstStyle/>
          <a:p>
            <a:r>
              <a:rPr lang="fr-FR" sz="3600" dirty="0">
                <a:latin typeface="Bahnschrift" panose="020B0502040204020203" pitchFamily="34" charset="0"/>
              </a:rPr>
              <a:t>Ergonomie, Accessibilité &amp; Identité Graphique</a:t>
            </a:r>
          </a:p>
        </p:txBody>
      </p:sp>
      <p:pic>
        <p:nvPicPr>
          <p:cNvPr id="3074" name="Picture 2" descr="RGAA : quelles sont vos obligations ? - WeArePublic">
            <a:extLst>
              <a:ext uri="{FF2B5EF4-FFF2-40B4-BE49-F238E27FC236}">
                <a16:creationId xmlns:a16="http://schemas.microsoft.com/office/drawing/2014/main" id="{ED60CDEE-0855-0338-5EAC-E44F15A2BD8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700" y="1914525"/>
            <a:ext cx="5297435" cy="3188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24C9C44-F2E9-82AC-0763-DF814FC1A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047" y="1914525"/>
            <a:ext cx="2269949" cy="3204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3164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16">
            <a:extLst>
              <a:ext uri="{FF2B5EF4-FFF2-40B4-BE49-F238E27FC236}">
                <a16:creationId xmlns:a16="http://schemas.microsoft.com/office/drawing/2014/main" id="{45F3288D-EE93-9FF0-AD12-8F2851DA99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22/12/2025</a:t>
            </a:r>
          </a:p>
        </p:txBody>
      </p:sp>
      <p:sp>
        <p:nvSpPr>
          <p:cNvPr id="5" name="Espace réservé du numéro de diapositive 17">
            <a:extLst>
              <a:ext uri="{FF2B5EF4-FFF2-40B4-BE49-F238E27FC236}">
                <a16:creationId xmlns:a16="http://schemas.microsoft.com/office/drawing/2014/main" id="{C06EC88C-FB76-B3D3-E85D-E8581748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6C075A-CBAB-4B5F-ACC2-E1149B60C2A9}" type="slidenum">
              <a:rPr lang="fr-FR" b="1" smtClean="0">
                <a:solidFill>
                  <a:schemeClr val="bg1"/>
                </a:solidFill>
              </a:rPr>
              <a:t>13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3BA6214B-7E26-E076-B339-D1558301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12169"/>
            <a:ext cx="9688296" cy="897035"/>
          </a:xfrm>
        </p:spPr>
        <p:txBody>
          <a:bodyPr anchor="b">
            <a:normAutofit/>
          </a:bodyPr>
          <a:lstStyle/>
          <a:p>
            <a:r>
              <a:rPr lang="fr-FR" sz="3600" dirty="0">
                <a:latin typeface="Bahnschrift" panose="020B0502040204020203" pitchFamily="34" charset="0"/>
              </a:rPr>
              <a:t>Sécurité, RGPD &amp; Gestion des Risques</a:t>
            </a:r>
          </a:p>
        </p:txBody>
      </p:sp>
      <p:pic>
        <p:nvPicPr>
          <p:cNvPr id="4098" name="Picture 2" descr="OWASP ASVS | Secureframe">
            <a:extLst>
              <a:ext uri="{FF2B5EF4-FFF2-40B4-BE49-F238E27FC236}">
                <a16:creationId xmlns:a16="http://schemas.microsoft.com/office/drawing/2014/main" id="{F61ED3FA-F944-F7AE-2125-834CB21F4F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49" y="1840566"/>
            <a:ext cx="4163063" cy="1448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GPD : Le droit d'accès est limité ! - Lawgitech">
            <a:extLst>
              <a:ext uri="{FF2B5EF4-FFF2-40B4-BE49-F238E27FC236}">
                <a16:creationId xmlns:a16="http://schemas.microsoft.com/office/drawing/2014/main" id="{38E19F82-E8F4-79E1-B5CE-C2927325B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248" y="3184808"/>
            <a:ext cx="6810531" cy="2756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3470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ce réservé de la date 16">
            <a:extLst>
              <a:ext uri="{FF2B5EF4-FFF2-40B4-BE49-F238E27FC236}">
                <a16:creationId xmlns:a16="http://schemas.microsoft.com/office/drawing/2014/main" id="{E70C9BF7-DA41-CDEE-9821-255A00502F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fr-FR" b="1" dirty="0">
                <a:solidFill>
                  <a:schemeClr val="bg1"/>
                </a:solidFill>
              </a:rPr>
              <a:t>22/12/2025</a:t>
            </a:r>
          </a:p>
        </p:txBody>
      </p:sp>
      <p:sp>
        <p:nvSpPr>
          <p:cNvPr id="5" name="Espace réservé du numéro de diapositive 17">
            <a:extLst>
              <a:ext uri="{FF2B5EF4-FFF2-40B4-BE49-F238E27FC236}">
                <a16:creationId xmlns:a16="http://schemas.microsoft.com/office/drawing/2014/main" id="{FC4ED749-FED9-73F9-4563-24821CD2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36C075A-CBAB-4B5F-ACC2-E1149B60C2A9}" type="slidenum">
              <a:rPr lang="fr-FR" b="1" smtClean="0">
                <a:solidFill>
                  <a:schemeClr val="bg1"/>
                </a:solidFill>
              </a:rPr>
              <a:t>14</a:t>
            </a:fld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45CFCA4C-AF36-84B1-D43C-E2C6348C5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312169"/>
            <a:ext cx="9688296" cy="897035"/>
          </a:xfrm>
        </p:spPr>
        <p:txBody>
          <a:bodyPr anchor="b">
            <a:normAutofit/>
          </a:bodyPr>
          <a:lstStyle/>
          <a:p>
            <a:r>
              <a:rPr lang="fr-FR" sz="3600" dirty="0">
                <a:latin typeface="Bahnschrift" panose="020B0502040204020203" pitchFamily="34" charset="0"/>
              </a:rPr>
              <a:t>Déploiement, Tests &amp; Livrables</a:t>
            </a:r>
          </a:p>
        </p:txBody>
      </p:sp>
      <p:pic>
        <p:nvPicPr>
          <p:cNvPr id="5122" name="Picture 2" descr="Nouveautés ? Création automatique d'un dépôt Git et d'un Initial Commit  lors de la création d'un projet">
            <a:extLst>
              <a:ext uri="{FF2B5EF4-FFF2-40B4-BE49-F238E27FC236}">
                <a16:creationId xmlns:a16="http://schemas.microsoft.com/office/drawing/2014/main" id="{348EC35D-5B06-0C88-8037-1FAA49CEBF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810" y="2349591"/>
            <a:ext cx="2880000" cy="120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71F8BCDD-23D0-133C-A611-BFD534F5A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290528"/>
            <a:ext cx="2880610" cy="880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334D37A-8995-275C-7FFB-6E78E28301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004" y="2104982"/>
            <a:ext cx="7071093" cy="34000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612634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1527</Words>
  <Application>Microsoft Office PowerPoint</Application>
  <PresentationFormat>Grand écran</PresentationFormat>
  <Paragraphs>251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Bahnschrift</vt:lpstr>
      <vt:lpstr>Bahnschrift SemiBold</vt:lpstr>
      <vt:lpstr>Bahnschrift SemiBold Condensed</vt:lpstr>
      <vt:lpstr>Thème Office</vt:lpstr>
      <vt:lpstr>CESIZen</vt:lpstr>
      <vt:lpstr>Problématique &amp; Contexte de la Santé Mentale</vt:lpstr>
      <vt:lpstr>Objectifs Fonctionnels &amp; Métiers</vt:lpstr>
      <vt:lpstr>Parties Prenantes &amp; Acteurs</vt:lpstr>
      <vt:lpstr>Parties Prenantes &amp; Acteurs</vt:lpstr>
      <vt:lpstr>Besoins Fonctionnels &amp; Priorisation</vt:lpstr>
      <vt:lpstr>Périmètre Fonctionnel</vt:lpstr>
      <vt:lpstr>Architecture Logicielle &amp; Choix Techniques</vt:lpstr>
      <vt:lpstr>Architecture Logicielle &amp; Choix Techniques</vt:lpstr>
      <vt:lpstr>Modélisation des Données</vt:lpstr>
      <vt:lpstr>Modélisation des Données</vt:lpstr>
      <vt:lpstr>Ergonomie, Accessibilité &amp; Identité Graphique</vt:lpstr>
      <vt:lpstr>Sécurité, RGPD &amp; Gestion des Risques</vt:lpstr>
      <vt:lpstr>Déploiement, Tests &amp; Livrables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Loïc Vasile</dc:creator>
  <cp:lastModifiedBy>Loïc Vasile</cp:lastModifiedBy>
  <cp:revision>28</cp:revision>
  <dcterms:created xsi:type="dcterms:W3CDTF">2025-12-21T22:30:47Z</dcterms:created>
  <dcterms:modified xsi:type="dcterms:W3CDTF">2025-12-22T09:08:53Z</dcterms:modified>
</cp:coreProperties>
</file>